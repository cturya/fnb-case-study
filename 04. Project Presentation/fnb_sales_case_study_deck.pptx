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Monthly Gross Profit % — mostly negative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Gross Profit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2013-12</c:v>
                  </c:pt>
                  <c:pt idx="1">
                    <c:v>2014-01</c:v>
                  </c:pt>
                  <c:pt idx="2">
                    <c:v>2014-02</c:v>
                  </c:pt>
                  <c:pt idx="3">
                    <c:v>2014-03</c:v>
                  </c:pt>
                  <c:pt idx="4">
                    <c:v>2014-04</c:v>
                  </c:pt>
                  <c:pt idx="5">
                    <c:v>2014-05</c:v>
                  </c:pt>
                  <c:pt idx="6">
                    <c:v>2014-06</c:v>
                  </c:pt>
                  <c:pt idx="7">
                    <c:v>2014-07</c:v>
                  </c:pt>
                  <c:pt idx="8">
                    <c:v>2014-08</c:v>
                  </c:pt>
                  <c:pt idx="9">
                    <c:v>2014-09</c:v>
                  </c:pt>
                  <c:pt idx="10">
                    <c:v>2014-10</c:v>
                  </c:pt>
                  <c:pt idx="11">
                    <c:v>2014-11</c:v>
                  </c:pt>
                  <c:pt idx="12">
                    <c:v>2014-12</c:v>
                  </c:pt>
                  <c:pt idx="13">
                    <c:v>2015-01</c:v>
                  </c:pt>
                  <c:pt idx="14">
                    <c:v>2015-02</c:v>
                  </c:pt>
                  <c:pt idx="15">
                    <c:v>2015-03</c:v>
                  </c:pt>
                  <c:pt idx="16">
                    <c:v>2015-04</c:v>
                  </c:pt>
                  <c:pt idx="17">
                    <c:v>2015-05</c:v>
                  </c:pt>
                  <c:pt idx="18">
                    <c:v>2015-06</c:v>
                  </c:pt>
                  <c:pt idx="19">
                    <c:v>2015-07</c:v>
                  </c:pt>
                  <c:pt idx="20">
                    <c:v>2015-08</c:v>
                  </c:pt>
                  <c:pt idx="21">
                    <c:v>2015-09</c:v>
                  </c:pt>
                  <c:pt idx="22">
                    <c:v>2015-10</c:v>
                  </c:pt>
                  <c:pt idx="23">
                    <c:v>2015-11</c:v>
                  </c:pt>
                  <c:pt idx="24">
                    <c:v>2015-12</c:v>
                  </c:pt>
                  <c:pt idx="25">
                    <c:v>2016-01</c:v>
                  </c:pt>
                  <c:pt idx="26">
                    <c:v>2016-02</c:v>
                  </c:pt>
                  <c:pt idx="27">
                    <c:v>2016-03</c:v>
                  </c:pt>
                  <c:pt idx="28">
                    <c:v>2016-04</c:v>
                  </c:pt>
                  <c:pt idx="29">
                    <c:v>2016-05</c:v>
                  </c:pt>
                  <c:pt idx="30">
                    <c:v>2016-06</c:v>
                  </c:pt>
                  <c:pt idx="31">
                    <c:v>2016-07</c:v>
                  </c:pt>
                  <c:pt idx="32">
                    <c:v>2016-08</c:v>
                  </c:pt>
                  <c:pt idx="33">
                    <c:v>2016-09</c:v>
                  </c:pt>
                  <c:pt idx="34">
                    <c:v>2016-10</c:v>
                  </c:pt>
                  <c:pt idx="35">
                    <c:v>2016-11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-0.02438049303994611</c:v>
                </c:pt>
                <c:pt idx="1">
                  <c:v>0.0031088034678164243</c:v>
                </c:pt>
                <c:pt idx="2">
                  <c:v>-0.023006951061080427</c:v>
                </c:pt>
                <c:pt idx="3">
                  <c:v>-0.016442606539534912</c:v>
                </c:pt>
                <c:pt idx="4">
                  <c:v>-0.006821333515487001</c:v>
                </c:pt>
                <c:pt idx="5">
                  <c:v>-0.04188930406288899</c:v>
                </c:pt>
                <c:pt idx="6">
                  <c:v>-0.02925532894630967</c:v>
                </c:pt>
                <c:pt idx="7">
                  <c:v>-0.014428105760186763</c:v>
                </c:pt>
                <c:pt idx="8">
                  <c:v>-0.05135211898984039</c:v>
                </c:pt>
                <c:pt idx="9">
                  <c:v>-0.0719710549869536</c:v>
                </c:pt>
                <c:pt idx="10">
                  <c:v>-0.019204053419722176</c:v>
                </c:pt>
                <c:pt idx="11">
                  <c:v>0.043410554468196805</c:v>
                </c:pt>
                <c:pt idx="12">
                  <c:v>-0.05683732166789269</c:v>
                </c:pt>
                <c:pt idx="13">
                  <c:v>-0.0419537132317116</c:v>
                </c:pt>
                <c:pt idx="14">
                  <c:v>-0.05105602875348104</c:v>
                </c:pt>
                <c:pt idx="15">
                  <c:v>-0.06267895846462182</c:v>
                </c:pt>
                <c:pt idx="16">
                  <c:v>-0.054104631625757516</c:v>
                </c:pt>
                <c:pt idx="17">
                  <c:v>-0.0702896999275461</c:v>
                </c:pt>
                <c:pt idx="18">
                  <c:v>-0.035411329654711</c:v>
                </c:pt>
                <c:pt idx="19">
                  <c:v>-0.04119326869509278</c:v>
                </c:pt>
                <c:pt idx="20">
                  <c:v>-0.07021148879110782</c:v>
                </c:pt>
                <c:pt idx="21">
                  <c:v>-0.07593200005424168</c:v>
                </c:pt>
                <c:pt idx="22">
                  <c:v>-0.07175829079192027</c:v>
                </c:pt>
                <c:pt idx="23">
                  <c:v>-0.09187379823503007</c:v>
                </c:pt>
                <c:pt idx="24">
                  <c:v>-0.048914062753125626</c:v>
                </c:pt>
                <c:pt idx="25">
                  <c:v>-0.047056810475161436</c:v>
                </c:pt>
                <c:pt idx="26">
                  <c:v>0.0005271313339997202</c:v>
                </c:pt>
                <c:pt idx="27">
                  <c:v>0.011536644883618503</c:v>
                </c:pt>
                <c:pt idx="28">
                  <c:v>-0.07073159146710074</c:v>
                </c:pt>
                <c:pt idx="29">
                  <c:v>-0.03252519070635875</c:v>
                </c:pt>
                <c:pt idx="30">
                  <c:v>-0.05866294152350161</c:v>
                </c:pt>
                <c:pt idx="31">
                  <c:v>0.016971765946619716</c:v>
                </c:pt>
                <c:pt idx="32">
                  <c:v>-0.03141788894727852</c:v>
                </c:pt>
                <c:pt idx="33">
                  <c:v>0.015138693290048627</c:v>
                </c:pt>
                <c:pt idx="34">
                  <c:v>0.09443767081369654</c:v>
                </c:pt>
                <c:pt idx="35">
                  <c:v>0.06837111973242023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Average Sales per Trading Day,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per Trading Day (R)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262141.7262168561</c:v>
                </c:pt>
                <c:pt idx="1">
                  <c:v>206616.3718128783</c:v>
                </c:pt>
                <c:pt idx="2">
                  <c:v>175390.66681431024</c:v>
                </c:pt>
                <c:pt idx="3">
                  <c:v>146270.95235241594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Average Quantity Sold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4400.046357615894</c:v>
                </c:pt>
                <c:pt idx="1">
                  <c:v>3851.701986754967</c:v>
                </c:pt>
                <c:pt idx="2">
                  <c:v>4105.9933774834435</c:v>
                </c:pt>
                <c:pt idx="3">
                  <c:v>3969.22</c:v>
                </c:pt>
                <c:pt idx="4">
                  <c:v>6955.393333333333</c:v>
                </c:pt>
                <c:pt idx="5">
                  <c:v>7937.306666666666</c:v>
                </c:pt>
                <c:pt idx="6">
                  <c:v>3897.1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 SALES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Promotion &amp; Profitability Analysis — FNB Sales Case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611880"/>
            <a:ext cx="1097280" cy="36576"/>
          </a:xfrm>
          <a:prstGeom prst="rect">
            <a:avLst/>
          </a:prstGeom>
          <a:solidFill>
            <a:srgbClr val="A974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Case Study  |  Dec 2013 – Nov 2016  |  1,053 trading 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answers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sales price per unit, and the average unit sales price overall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% gross profit, and % gross profit per unit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elasticity of demand across 3 promotional periods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product performs better or worse when discounted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 beyond the brief — including the two that changed the 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run further promotions on this product until its cost structure is fixed.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 clearly work — demand is highly elastic (PED -11 to -46)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base business is already loss-making, and has been for 3 straight years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promotions on a product that's underwater accelerate the loss, they don't fix it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margin first — then promotions become a genuinely good lever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three years of daily trading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5ED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5ED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R186.9m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5ED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3960" y="18288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5ED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R35.40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82396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unit price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provided: Date · Sales (R) · Cost of Sales (R) · Quantity Sold. Everything else in this deck is derived.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unit economics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8580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÷ Quantity Sold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unit sales 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SUM(Sales) ÷ SUM(Quantity) — Rand-weighted, not a simple average of daily prices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% gross 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(Sales − Cost of Sales) ÷ Sales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% gross profit per unit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(Gross Profit ÷ Qty) ÷ (Sales ÷ Qty) — algebraically identical to the row above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promo windows without a promo flag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explicit promo indicator in the data — periods had to be inferred from price alone.</a:t>
            </a:r>
            <a:endParaRPr lang="en-US" sz="15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flag days priced &gt; 1 SD below the ALL-TIME mean price.</a:t>
            </a:r>
            <a:endParaRPr lang="en-US" sz="15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(validation, PySpark): flag days priced &gt; 1 SD below their own 14-day trailing ROLLING average — adapts to trend rather than one fixed baseline.</a:t>
            </a:r>
            <a:endParaRPr lang="en-US" sz="15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 flagged days grouped into runs via gaps-and-islands (row_number − date = constant within a run).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10698480" cy="1234440"/>
          </a:xfrm>
          <a:prstGeom prst="roundRect">
            <a:avLst>
              <a:gd name="adj" fmla="val 4444"/>
            </a:avLst>
          </a:prstGeom>
          <a:solidFill>
            <a:srgbClr val="FDF3E7"/>
          </a:solidFill>
          <a:ln w="12700">
            <a:solidFill>
              <a:srgbClr val="A97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9377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result: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 periods independently confirmed by the rolling method. The third (Jun 2016) was missed by the automated flag because a one-day outlier price spike just before it inflated the rolling standard deviation — the underlying price drop and volume lift are still clearly real on inspection. Kept as an honest limitation, not smoothed over.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ELASTICITY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promotional periods vs. their 14-day baseline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2011680"/>
                <a:gridCol w="21031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Price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Quantity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Sep – 6 Oct 2014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+340.7%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3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-46.2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Sep – 6 Oct 2015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+503.9%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3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-34.4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Jun – 6 Jul 2016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3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-11.3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periods show |PED| far above 1: demand is highly elastic. A small % price cut drove a much larger % increase in units sold.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PED this extreme is unusual for real-world retail data — treat as a feature of this simulated dataset.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PRODUCT PERFORM BETTER ON PROMOTION?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and revenue: yes. Margin: no.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3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sold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Up 65–500%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Rand revenue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Higher in all 3 periods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Compressed by the discount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better on promotion in volume and revenue terms — demand is elastic enough that extra units sold more than offset the thinner margin per unit in the periods reviewed.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product has been sold at a loss overall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R7.1m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loss across all 1,053 days (Sales R186.9m vs. Cost of Sales R194.0m)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2062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of 36 months ran at a negative gross profit %.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decline isn't a one-off — it's 3 straight years running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201168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to a per-trading-day basis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(2013 and 2016 are partial years), average daily sales fall every year: -21% in 2015, -17% in 2016.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% also worsens most in 2015 (-6.1%)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structural, multi-year decline in both volume and margin — not a one-off bad patch.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volume is much higher — but so is the loss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201168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&amp; Saturday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roughly 1.7–2x the volume of a weekday, but also carry the largest average Rand gross-profit shortfall per day.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underlying margin matters more on the highest-volume days, not less.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 work: demand is highly elastic, so discounting drives large volume and revenue gains.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base business is loss-making — and has been declining for 3 straight years, not just occasionally dipping negative.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cost-of-sales drivers (supplier pricing, shrinkage, allocation) before running more promotions on a product that's already underwater.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trading absorbs the biggest Rand losses — prioritise any margin fix there first.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calculations: sales_case_study_analysis.xlsx  |  SQL: sales_case_study_analysis_databricks_matched.sql  |  PySpark: sales_exploration_pyspark.py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2026-07-31T19:13:36Z</dcterms:created>
  <dcterms:modified xsi:type="dcterms:W3CDTF">2026-07-31T19:13:36Z</dcterms:modified>
</cp:coreProperties>
</file>